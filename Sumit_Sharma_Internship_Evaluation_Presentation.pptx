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INTERNSHIP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966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2800" b="1"/>
            </a:pPr>
            <a:r>
              <a:t>Internship Training in Sales &amp; Marketing Operations</a:t>
            </a:r>
          </a:p>
          <a:p>
            <a:pPr algn="ctr">
              <a:spcAft>
                <a:spcPts val="1800"/>
              </a:spcAft>
              <a:defRPr sz="2000" b="0"/>
            </a:pPr>
            <a:r>
              <a:t>Mohit &amp; Arsh Security Private Limited</a:t>
            </a:r>
          </a:p>
          <a:p>
            <a:pPr algn="ctr">
              <a:spcAft>
                <a:spcPts val="1800"/>
              </a:spcAft>
              <a:defRPr sz="2000" b="0"/>
            </a:pPr>
            <a:r>
              <a:t>Presented by: Sumit Sharma</a:t>
            </a:r>
          </a:p>
          <a:p>
            <a:pPr algn="ctr">
              <a:spcAft>
                <a:spcPts val="1800"/>
              </a:spcAft>
              <a:defRPr sz="2000" b="0"/>
            </a:pPr>
            <a:r>
              <a:t>Roll No.: 2410030519 | B.Tech CSE | Batch 2024–28</a:t>
            </a:r>
          </a:p>
          <a:p>
            <a:pPr algn="ctr">
              <a:spcAft>
                <a:spcPts val="1800"/>
              </a:spcAft>
              <a:defRPr sz="2000" b="0"/>
            </a:pPr>
            <a:r>
              <a:t>IILM University, Greater Noida | Academic Session 2026–27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• Organization: Mohit &amp; Arsh Security Private Limited</a:t>
            </a:r>
          </a:p>
          <a:p>
            <a:pPr>
              <a:spcAft>
                <a:spcPts val="1600"/>
              </a:spcAft>
              <a:defRPr sz="2100"/>
            </a:pPr>
            <a:r>
              <a:t>• Department: Sales &amp; Marketing</a:t>
            </a:r>
          </a:p>
          <a:p>
            <a:pPr>
              <a:spcAft>
                <a:spcPts val="1600"/>
              </a:spcAft>
              <a:defRPr sz="2100"/>
            </a:pPr>
            <a:r>
              <a:t>• Internship Period: 03 June 2026 – 18 June 2026</a:t>
            </a:r>
          </a:p>
          <a:p>
            <a:pPr>
              <a:spcAft>
                <a:spcPts val="1600"/>
              </a:spcAft>
              <a:defRPr sz="2100"/>
            </a:pPr>
            <a:r>
              <a:t>• Certificate issued: 27 June 2026</a:t>
            </a:r>
          </a:p>
          <a:p>
            <a:pPr>
              <a:spcAft>
                <a:spcPts val="1600"/>
              </a:spcAft>
              <a:defRPr sz="2100"/>
            </a:pPr>
            <a:r>
              <a:t>• Focus: Practical exposure to organizational and Sales &amp; Marketing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ABOUT THE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• Mohit &amp; Arsh Security Private Limited</a:t>
            </a:r>
          </a:p>
          <a:p>
            <a:pPr>
              <a:spcAft>
                <a:spcPts val="1600"/>
              </a:spcAft>
              <a:defRPr sz="2100"/>
            </a:pPr>
            <a:r>
              <a:t>• ISO 9001:2015 and ISO/IEC 27001:2022 certified company</a:t>
            </a:r>
          </a:p>
          <a:p>
            <a:pPr>
              <a:spcAft>
                <a:spcPts val="1600"/>
              </a:spcAft>
              <a:defRPr sz="2100"/>
            </a:pPr>
            <a:r>
              <a:t>• Registered Office: Loni, Tronica City, Ghaziabad, Uttar Pradesh</a:t>
            </a:r>
          </a:p>
          <a:p>
            <a:pPr>
              <a:spcAft>
                <a:spcPts val="1600"/>
              </a:spcAft>
              <a:defRPr sz="2100"/>
            </a:pPr>
            <a:r>
              <a:t>• Head Office: Sector 18, Noida, Uttar Pradesh</a:t>
            </a:r>
          </a:p>
          <a:p>
            <a:pPr>
              <a:spcAft>
                <a:spcPts val="1600"/>
              </a:spcAft>
              <a:defRPr sz="2100"/>
            </a:pPr>
            <a:r>
              <a:t>• Branch Office: Hari Nagar / Badarpur Extension, New Delhi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• Sales and marketing operations require organized information and timely documentation.</a:t>
            </a:r>
          </a:p>
          <a:p>
            <a:pPr>
              <a:spcAft>
                <a:spcPts val="1600"/>
              </a:spcAft>
              <a:defRPr sz="2100"/>
            </a:pPr>
            <a:r>
              <a:t>• Effective coordination is needed among team members.</a:t>
            </a:r>
          </a:p>
          <a:p>
            <a:pPr>
              <a:spcAft>
                <a:spcPts val="1600"/>
              </a:spcAft>
              <a:defRPr sz="2100"/>
            </a:pPr>
            <a:r>
              <a:t>• Accurate reporting supports smooth execution of assigned activities.</a:t>
            </a:r>
          </a:p>
          <a:p>
            <a:pPr>
              <a:spcAft>
                <a:spcPts val="1600"/>
              </a:spcAft>
              <a:defRPr sz="2100"/>
            </a:pPr>
            <a:r>
              <a:t>• The internship focused on understanding and performing these support activities in a professional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INTERNSHIP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/>
            </a:pPr>
            <a:r>
              <a:t>• Gain practical exposure to a professional Sales &amp; Marketing Department</a:t>
            </a:r>
          </a:p>
          <a:p>
            <a:pPr>
              <a:spcAft>
                <a:spcPts val="1600"/>
              </a:spcAft>
              <a:defRPr sz="1800"/>
            </a:pPr>
            <a:r>
              <a:t>• Understand how research and information gathering support organizational activities</a:t>
            </a:r>
          </a:p>
          <a:p>
            <a:pPr>
              <a:spcAft>
                <a:spcPts val="1600"/>
              </a:spcAft>
              <a:defRPr sz="1800"/>
            </a:pPr>
            <a:r>
              <a:t>• Develop disciplined documentation and data-management practices</a:t>
            </a:r>
          </a:p>
          <a:p>
            <a:pPr>
              <a:spcAft>
                <a:spcPts val="1600"/>
              </a:spcAft>
              <a:defRPr sz="1800"/>
            </a:pPr>
            <a:r>
              <a:t>• Improve coordination and communication skills</a:t>
            </a:r>
          </a:p>
          <a:p>
            <a:pPr>
              <a:spcAft>
                <a:spcPts val="1600"/>
              </a:spcAft>
              <a:defRPr sz="1800"/>
            </a:pPr>
            <a:r>
              <a:t>• Understand the importance of accuracy, punctuality, reporting and professional conduct</a:t>
            </a:r>
          </a:p>
          <a:p>
            <a:pPr>
              <a:spcAft>
                <a:spcPts val="1600"/>
              </a:spcAft>
              <a:defRPr sz="1800"/>
            </a:pPr>
            <a:r>
              <a:t>• Connect classroom learning with practical workplace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KEY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/>
            </a:pPr>
            <a:r>
              <a:t>• Research and information gathering</a:t>
            </a:r>
          </a:p>
          <a:p>
            <a:pPr>
              <a:spcAft>
                <a:spcPts val="1600"/>
              </a:spcAft>
              <a:defRPr sz="1800"/>
            </a:pPr>
            <a:r>
              <a:t>• Documentation</a:t>
            </a:r>
          </a:p>
          <a:p>
            <a:pPr>
              <a:spcAft>
                <a:spcPts val="1600"/>
              </a:spcAft>
              <a:defRPr sz="1800"/>
            </a:pPr>
            <a:r>
              <a:t>• Data management and organization</a:t>
            </a:r>
          </a:p>
          <a:p>
            <a:pPr>
              <a:spcAft>
                <a:spcPts val="1600"/>
              </a:spcAft>
              <a:defRPr sz="1800"/>
            </a:pPr>
            <a:r>
              <a:t>• Coordination with team members</a:t>
            </a:r>
          </a:p>
          <a:p>
            <a:pPr>
              <a:spcAft>
                <a:spcPts val="1600"/>
              </a:spcAft>
              <a:defRPr sz="1800"/>
            </a:pPr>
            <a:r>
              <a:t>• Reporting and review</a:t>
            </a:r>
          </a:p>
          <a:p>
            <a:pPr>
              <a:spcAft>
                <a:spcPts val="1600"/>
              </a:spcAft>
              <a:defRPr sz="1800"/>
            </a:pPr>
            <a:r>
              <a:t>• Other assigned operational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WORKFLOW /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/>
            </a:pPr>
            <a:r>
              <a:t>• 1. Understand the assigned task</a:t>
            </a:r>
          </a:p>
          <a:p>
            <a:pPr>
              <a:spcAft>
                <a:spcPts val="1600"/>
              </a:spcAft>
              <a:defRPr sz="1800"/>
            </a:pPr>
            <a:r>
              <a:t>• 2. Conduct research / gather required information</a:t>
            </a:r>
          </a:p>
          <a:p>
            <a:pPr>
              <a:spcAft>
                <a:spcPts val="1600"/>
              </a:spcAft>
              <a:defRPr sz="1800"/>
            </a:pPr>
            <a:r>
              <a:t>• 3. Document and organize information</a:t>
            </a:r>
          </a:p>
          <a:p>
            <a:pPr>
              <a:spcAft>
                <a:spcPts val="1600"/>
              </a:spcAft>
              <a:defRPr sz="1800"/>
            </a:pPr>
            <a:r>
              <a:t>• 4. Coordinate with the team for clarification and execution</a:t>
            </a:r>
          </a:p>
          <a:p>
            <a:pPr>
              <a:spcAft>
                <a:spcPts val="1600"/>
              </a:spcAft>
              <a:defRPr sz="1800"/>
            </a:pPr>
            <a:r>
              <a:t>• 5. Complete assigned work</a:t>
            </a:r>
          </a:p>
          <a:p>
            <a:pPr>
              <a:spcAft>
                <a:spcPts val="1600"/>
              </a:spcAft>
              <a:defRPr sz="1800"/>
            </a:pPr>
            <a:r>
              <a:t>• 6. Review and report 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SKILLS &amp;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/>
            </a:pPr>
            <a:r>
              <a:t>• Professional communication and teamwork</a:t>
            </a:r>
          </a:p>
          <a:p>
            <a:pPr>
              <a:spcAft>
                <a:spcPts val="1600"/>
              </a:spcAft>
              <a:defRPr sz="1800"/>
            </a:pPr>
            <a:r>
              <a:t>• Research and information organization</a:t>
            </a:r>
          </a:p>
          <a:p>
            <a:pPr>
              <a:spcAft>
                <a:spcPts val="1600"/>
              </a:spcAft>
              <a:defRPr sz="1800"/>
            </a:pPr>
            <a:r>
              <a:t>• Documentation and data-management discipline</a:t>
            </a:r>
          </a:p>
          <a:p>
            <a:pPr>
              <a:spcAft>
                <a:spcPts val="1600"/>
              </a:spcAft>
              <a:defRPr sz="1800"/>
            </a:pPr>
            <a:r>
              <a:t>• Task management and reporting</a:t>
            </a:r>
          </a:p>
          <a:p>
            <a:pPr>
              <a:spcAft>
                <a:spcPts val="1600"/>
              </a:spcAft>
              <a:defRPr sz="1800"/>
            </a:pPr>
            <a:r>
              <a:t>• Punctuality, responsibility and professional conduct</a:t>
            </a:r>
          </a:p>
          <a:p>
            <a:pPr>
              <a:spcAft>
                <a:spcPts val="1600"/>
              </a:spcAft>
              <a:defRPr sz="1800"/>
            </a:pPr>
            <a:r>
              <a:t>• Better understanding of workplace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• The internship certificate does not specify particular software, programming languages or databases.</a:t>
            </a:r>
          </a:p>
          <a:p>
            <a:pPr>
              <a:spcAft>
                <a:spcPts val="1600"/>
              </a:spcAft>
              <a:defRPr sz="2100"/>
            </a:pPr>
            <a:r>
              <a:t>• Therefore, no specific technology is attributed to the internship.</a:t>
            </a:r>
          </a:p>
          <a:p>
            <a:pPr>
              <a:spcAft>
                <a:spcPts val="1600"/>
              </a:spcAft>
              <a:defRPr sz="2100"/>
            </a:pPr>
            <a:r>
              <a:t>• The work is presented around research, documentation, data management, coordination and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CHALLENGES &amp; HOW I APPROACHED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• Understanding assigned organizational tasks → clarified requirements before execution</a:t>
            </a:r>
          </a:p>
          <a:p>
            <a:pPr>
              <a:spcAft>
                <a:spcPts val="1600"/>
              </a:spcAft>
              <a:defRPr sz="2100"/>
            </a:pPr>
            <a:r>
              <a:t>• Handling information → organized and documented information systematically</a:t>
            </a:r>
          </a:p>
          <a:p>
            <a:pPr>
              <a:spcAft>
                <a:spcPts val="1600"/>
              </a:spcAft>
              <a:defRPr sz="2100"/>
            </a:pPr>
            <a:r>
              <a:t>• Coordination → communicated with team members for clarification and completion</a:t>
            </a:r>
          </a:p>
          <a:p>
            <a:pPr>
              <a:spcAft>
                <a:spcPts val="1600"/>
              </a:spcAft>
              <a:defRPr sz="2100"/>
            </a:pPr>
            <a:r>
              <a:t>• Reporting → reviewed work and maintained clear reporting practices</a:t>
            </a:r>
          </a:p>
          <a:p>
            <a:pPr>
              <a:spcAft>
                <a:spcPts val="1600"/>
              </a:spcAft>
              <a:defRPr sz="2100"/>
            </a:pPr>
            <a:r>
              <a:t>• Professional environment → followed punctuality, responsibility and workplace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• The internship provided practical exposure to Sales &amp; Marketing operations.</a:t>
            </a:r>
          </a:p>
          <a:p>
            <a:pPr>
              <a:spcAft>
                <a:spcPts val="1600"/>
              </a:spcAft>
              <a:defRPr sz="2100"/>
            </a:pPr>
            <a:r>
              <a:t>• It helped strengthen research, documentation, data management, coordination and reporting abilities.</a:t>
            </a:r>
          </a:p>
          <a:p>
            <a:pPr>
              <a:spcAft>
                <a:spcPts val="1600"/>
              </a:spcAft>
              <a:defRPr sz="2100"/>
            </a:pPr>
            <a:r>
              <a:t>• The experience improved understanding of workplace discipline, teamwork and responsibility.</a:t>
            </a:r>
          </a:p>
          <a:p>
            <a:pPr>
              <a:spcAft>
                <a:spcPts val="1600"/>
              </a:spcAft>
              <a:defRPr sz="2100"/>
            </a:pPr>
            <a:r>
              <a:t>• It complemented academic learning with practical organizational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3400" b="1"/>
            </a:pPr>
            <a:r>
              <a:t>Thank You</a:t>
            </a:r>
          </a:p>
          <a:p>
            <a:pPr algn="ctr">
              <a:spcAft>
                <a:spcPts val="1600"/>
              </a:spcAft>
              <a:defRPr sz="2000" b="0"/>
            </a:pPr>
            <a:r>
              <a:t>Sumit Sharma</a:t>
            </a:r>
          </a:p>
          <a:p>
            <a:pPr algn="ctr">
              <a:spcAft>
                <a:spcPts val="1600"/>
              </a:spcAft>
              <a:defRPr sz="2000" b="0"/>
            </a:pPr>
            <a:r>
              <a:t>Roll No.: 2410030519</a:t>
            </a:r>
          </a:p>
          <a:p>
            <a:pPr algn="ctr">
              <a:spcAft>
                <a:spcPts val="1600"/>
              </a:spcAft>
              <a:defRPr sz="2000" b="0"/>
            </a:pPr>
            <a:r>
              <a:t>B.Tech CSE | IILM University, Greater Noida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Internship Evaluation Presentation  |  Sumit Sharma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